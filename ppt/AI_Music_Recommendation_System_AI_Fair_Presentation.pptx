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2011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ED760"/>
                </a:solidFill>
                <a:latin typeface="Aptos"/>
              </a:defRPr>
            </a:pPr>
            <a:r>
              <a:t>AI FAIR 2026 · MACHINE LEARNING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943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600" b="1">
                <a:solidFill>
                  <a:srgbClr val="F8FBFF"/>
                </a:solidFill>
                <a:latin typeface="Aptos"/>
              </a:defRPr>
            </a:pPr>
            <a:r>
              <a:t>AI Music</a:t>
            </a:r>
            <a:br/>
            <a:r>
              <a:t>Recommendation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49377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9BA6C2"/>
                </a:solidFill>
                <a:latin typeface="Aptos"/>
              </a:defRPr>
            </a:pPr>
            <a:r>
              <a:t>Training a hybrid recommendation model from playlists, song features, and user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1772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73659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Main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0176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LightFM WARP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61772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473659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500176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Daily 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461772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73659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500176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CSV + APIs</a:t>
            </a:r>
          </a:p>
        </p:txBody>
      </p:sp>
      <p:pic>
        <p:nvPicPr>
          <p:cNvPr id="15" name="Picture 14" descr="ppt-u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85800"/>
            <a:ext cx="5212080" cy="3886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5120" y="5532120"/>
            <a:ext cx="4846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9BA6C2"/>
                </a:solidFill>
                <a:latin typeface="Aptos"/>
              </a:defRPr>
            </a:pPr>
            <a:r>
              <a:t>Presenter: AI Fair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project solves a real recommendation problem: finding songs that match a listener’s taste.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74720" cy="201168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3145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1ED760"/>
                </a:solidFill>
                <a:latin typeface="Aptos"/>
              </a:defRPr>
            </a:pPr>
            <a:r>
              <a:t>Real-world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67712"/>
            <a:ext cx="3145536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Music libraries are too large to browse manually. A recommender must learn from what the user already likes.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201168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65960"/>
            <a:ext cx="3145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67712"/>
            <a:ext cx="3145536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Students, music listeners, and AI Fair visitors who want to see how playlist data becomes a trained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474720" cy="201168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965960"/>
            <a:ext cx="3145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67712"/>
            <a:ext cx="3145536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It connects a familiar product experience with core machine learning ideas: data, features, training, prediction, and feedback.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107899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1ED760"/>
                </a:solidFill>
                <a:latin typeface="Aptos"/>
              </a:defRPr>
            </a:pPr>
            <a:r>
              <a:t>Thesis: this is not just a search page. It creates training data, trains a hybrid model, and updates recommendations after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A local Flask app turns playlist metadata and user actions into machine learning training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965960" cy="118872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4203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Aptos"/>
              </a:defRPr>
            </a:pPr>
            <a:r>
              <a:t>Playlist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9504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0">
                <a:solidFill>
                  <a:srgbClr val="9BA6C2"/>
                </a:solidFill>
                <a:latin typeface="Aptos"/>
              </a:defRPr>
            </a:pPr>
            <a:r>
              <a:t>QQ Music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743200"/>
            <a:ext cx="365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1ED76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331720"/>
            <a:ext cx="1965960" cy="118872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254203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Aptos"/>
              </a:defRPr>
            </a:pPr>
            <a:r>
              <a:t>Song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889504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0">
                <a:solidFill>
                  <a:srgbClr val="9BA6C2"/>
                </a:solidFill>
                <a:latin typeface="Aptos"/>
              </a:defRPr>
            </a:pPr>
            <a:r>
              <a:t>Local + public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365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1ED76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331720"/>
            <a:ext cx="1965960" cy="118872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54203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Aptos"/>
              </a:defRPr>
            </a:pPr>
            <a:r>
              <a:t>CSV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89504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0">
                <a:solidFill>
                  <a:srgbClr val="9BA6C2"/>
                </a:solidFill>
                <a:latin typeface="Aptos"/>
              </a:defRPr>
            </a:pPr>
            <a:r>
              <a:t>songs / interactions /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743200"/>
            <a:ext cx="365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1ED76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331720"/>
            <a:ext cx="1965960" cy="118872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54203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889504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0">
                <a:solidFill>
                  <a:srgbClr val="9BA6C2"/>
                </a:solidFill>
                <a:latin typeface="Aptos"/>
              </a:defRPr>
            </a:pPr>
            <a:r>
              <a:t>LightFM WARP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2743200"/>
            <a:ext cx="365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1ED76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331720"/>
            <a:ext cx="1965960" cy="118872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54203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889504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0">
                <a:solidFill>
                  <a:srgbClr val="9BA6C2"/>
                </a:solidFill>
                <a:latin typeface="Aptos"/>
              </a:defRPr>
            </a:pPr>
            <a:r>
              <a:t>Daily 50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10515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0">
                <a:solidFill>
                  <a:srgbClr val="9BA6C2"/>
                </a:solidFill>
                <a:latin typeface="Aptos"/>
              </a:defRPr>
            </a:pPr>
            <a:r>
              <a:t>All data is stored locally in CSV files. Online services are used only for public song metadata; no music audio is downloaded.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DATASET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dataset is simple enough to inspect, but structured enough to train a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13232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ED760"/>
                </a:solidFill>
                <a:latin typeface="Aptos"/>
              </a:defRPr>
            </a:pPr>
            <a:r>
              <a:t>songs.csv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01168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Song metadata + audio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011680"/>
            <a:ext cx="5394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9BA6C2"/>
                </a:solidFill>
                <a:latin typeface="Aptos"/>
              </a:defRPr>
            </a:pPr>
            <a:r>
              <a:t>track, artist, genre, energy, tempo, popularity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698480" cy="713232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ED760"/>
                </a:solidFill>
                <a:latin typeface="Aptos"/>
              </a:defRPr>
            </a:pPr>
            <a:r>
              <a:t>interactions.csv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017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Training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017520"/>
            <a:ext cx="5394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9BA6C2"/>
                </a:solidFill>
                <a:latin typeface="Aptos"/>
              </a:defRPr>
            </a:pPr>
            <a:r>
              <a:t>playlist_import, manual_add, like, dislike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713232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ED760"/>
                </a:solidFill>
                <a:latin typeface="Aptos"/>
              </a:defRPr>
            </a:pPr>
            <a:r>
              <a:t>feedback.csv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02336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Explicit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023360"/>
            <a:ext cx="5394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9BA6C2"/>
                </a:solidFill>
                <a:latin typeface="Aptos"/>
              </a:defRPr>
            </a:pPr>
            <a:r>
              <a:t>Like = 1, Dislike =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698480" cy="713232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2920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ED760"/>
                </a:solidFill>
                <a:latin typeface="Aptos"/>
              </a:defRPr>
            </a:pPr>
            <a:r>
              <a:t>playlists.csv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02920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Import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029200"/>
            <a:ext cx="5394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9BA6C2"/>
                </a:solidFill>
                <a:latin typeface="Aptos"/>
              </a:defRPr>
            </a:pPr>
            <a:r>
              <a:t>source, song_count, created_at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PLAYLIST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QQ Music links are parsed safely, then the app imports metadata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BFF"/>
                </a:solidFill>
                <a:latin typeface="Aptos"/>
              </a:defRPr>
            </a:pPr>
            <a:r>
              <a:t>Supports playlist/{id}, taoge.html?id=, disstid=, tid=, and pure numeric IDs.</a:t>
            </a:r>
          </a:p>
          <a:p>
            <a:pPr>
              <a:spcAft>
                <a:spcPts val="800"/>
              </a:spcAft>
              <a:defRPr sz="1500">
                <a:solidFill>
                  <a:srgbClr val="F8FBFF"/>
                </a:solidFill>
                <a:latin typeface="Aptos"/>
              </a:defRPr>
            </a:pPr>
            <a:r>
              <a:t>Tries multiple metadata endpoints: qzone, v8 playlist, and musicu.fcg.</a:t>
            </a:r>
          </a:p>
          <a:p>
            <a:pPr>
              <a:spcAft>
                <a:spcPts val="800"/>
              </a:spcAft>
              <a:defRPr sz="1500">
                <a:solidFill>
                  <a:srgbClr val="F8FBFF"/>
                </a:solidFill>
                <a:latin typeface="Aptos"/>
              </a:defRPr>
            </a:pPr>
            <a:r>
              <a:t>Never downloads music, never bypasses copyright, and never accesses paid audio.</a:t>
            </a:r>
          </a:p>
          <a:p>
            <a:pPr>
              <a:spcAft>
                <a:spcPts val="800"/>
              </a:spcAft>
              <a:defRPr sz="1500">
                <a:solidFill>
                  <a:srgbClr val="F8FBFF"/>
                </a:solidFill>
                <a:latin typeface="Aptos"/>
              </a:defRPr>
            </a:pPr>
            <a:r>
              <a:t>If QQ fails, the user gets a friendly fallback: manual playlist or song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4754880" cy="347472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0312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1ED760"/>
                </a:solidFill>
                <a:latin typeface="Aptos"/>
              </a:defRPr>
            </a:pPr>
            <a:r>
              <a:t>URL extraction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651760"/>
            <a:ext cx="420624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F8FBFF"/>
                </a:solidFill>
                <a:latin typeface="Aptos"/>
              </a:defRPr>
            </a:pPr>
            <a:r>
              <a:t>https://y.qq.com/n/ryqq/playlist/12345</a:t>
            </a:r>
            <a:br/>
            <a:r>
              <a:t>→ extract_qq_playlist_id()</a:t>
            </a:r>
            <a:br/>
            <a:r>
              <a:t>→ playlist_id = 12345</a:t>
            </a:r>
            <a:br/>
            <a:r>
              <a:t>→ fetch metadata</a:t>
            </a:r>
            <a:br/>
            <a:r>
              <a:t>→ normalize songs</a:t>
            </a:r>
            <a:br/>
            <a:r>
              <a:t>→ create playlist_import interactions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MUSIC SEARCH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app searches local data first, then public metadata APIs when more results are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983480" cy="10515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48256"/>
            <a:ext cx="411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93392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Local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9BA6C2"/>
                </a:solidFill>
                <a:latin typeface="Aptos"/>
              </a:defRPr>
            </a:pPr>
            <a:r>
              <a:t>Fast, stable, includes training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4983480" cy="10515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48256"/>
            <a:ext cx="411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93392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Deezer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31720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9BA6C2"/>
                </a:solidFill>
                <a:latin typeface="Aptos"/>
              </a:defRPr>
            </a:pPr>
            <a:r>
              <a:t>Clean public metadata for mainstream songs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4983480" cy="10515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57015"/>
            <a:ext cx="411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02152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MusicBrainz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40480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9BA6C2"/>
                </a:solidFill>
                <a:latin typeface="Aptos"/>
              </a:defRPr>
            </a:pPr>
            <a:r>
              <a:t>Open music knowledge base, 1 request/sec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37560"/>
            <a:ext cx="4983480" cy="10515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557015"/>
            <a:ext cx="411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502152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Last.fm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40480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9BA6C2"/>
                </a:solidFill>
                <a:latin typeface="Aptos"/>
              </a:defRPr>
            </a:pPr>
            <a:r>
              <a:t>Optional API key; skipped if 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607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Aptos"/>
              </a:defRPr>
            </a:pPr>
            <a:r>
              <a:t>Every request uses timeout=8 and try/except, so API failure never crashes the Flask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Songs become item feature tokens that LightFM can learn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ED760"/>
                </a:solidFill>
                <a:latin typeface="Aptos"/>
              </a:defRPr>
            </a:pPr>
            <a:r>
              <a:t>genre:pop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828800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1" y="201168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ptos"/>
              </a:defRPr>
            </a:pPr>
            <a:r>
              <a:t>artist:the_weeknd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201168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ED760"/>
                </a:solidFill>
                <a:latin typeface="Aptos"/>
              </a:defRPr>
            </a:pPr>
            <a:r>
              <a:t>tag:dance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7180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ptos"/>
              </a:defRPr>
            </a:pPr>
            <a:r>
              <a:t>source:qq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788920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1" y="297180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ED760"/>
                </a:solidFill>
                <a:latin typeface="Aptos"/>
              </a:defRPr>
            </a:pPr>
            <a:r>
              <a:t>energy:high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88920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97180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ptos"/>
              </a:defRPr>
            </a:pPr>
            <a:r>
              <a:t>tempo:fast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ED760"/>
                </a:solidFill>
                <a:latin typeface="Aptos"/>
              </a:defRPr>
            </a:pPr>
            <a:r>
              <a:t>valence:positive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749039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1" y="393192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Aptos"/>
              </a:defRPr>
            </a:pPr>
            <a:r>
              <a:t>danceability:high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749039"/>
            <a:ext cx="3246120" cy="65836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393192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ED760"/>
                </a:solidFill>
                <a:latin typeface="Aptos"/>
              </a:defRPr>
            </a:pPr>
            <a:r>
              <a:t>popularity:high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37760"/>
            <a:ext cx="105156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0">
                <a:solidFill>
                  <a:srgbClr val="9BA6C2"/>
                </a:solidFill>
                <a:latin typeface="Aptos"/>
              </a:defRPr>
            </a:pPr>
            <a:r>
              <a:t>Instead of only using numeric similarity, the model learns embeddings for interpretable feature buckets such as high energy, fast tempo, genre, artist, and 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Playlist actions and feedback become a user–song interaction matrix.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playlist_import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+1.0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92024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03911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manual_add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0428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Aptos"/>
              </a:defRPr>
            </a:pPr>
            <a:r>
              <a:t>+1.0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92024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03911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like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30428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+2.0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92024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03911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dislike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30428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B5B6B"/>
                </a:solidFill>
                <a:latin typeface="Aptos"/>
              </a:defRPr>
            </a:pPr>
            <a:r>
              <a:t>-1.0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29000"/>
            <a:ext cx="10241280" cy="164592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703320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F8FBFF"/>
                </a:solidFill>
                <a:latin typeface="Aptos"/>
              </a:defRPr>
            </a:pPr>
            <a:r>
              <a:t>LightFM WARP trains from positive ranking examples. Dislikes are saved, then used during re-ranking to lower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MODEL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LightFM is the main machine learning model because it supports hybrid recommendation.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Open-source recommender library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Learns from implicit and explicit feedback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Uses WARP ranking loss for Top-N recommendation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Combines user–song interactions with item features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Works well for small educational datasets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663440" cy="338328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148840"/>
            <a:ext cx="4069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1ED760"/>
                </a:solidFill>
                <a:latin typeface="Aptos"/>
              </a:defRPr>
            </a:pPr>
            <a:r>
              <a:t>Training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743200"/>
            <a:ext cx="402336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Aptos"/>
              </a:defRPr>
            </a:pPr>
            <a:r>
              <a:t>model = LightFM(loss="warp")</a:t>
            </a:r>
            <a:br/>
            <a:r>
              <a:t>model.fit(interactions,</a:t>
            </a:r>
            <a:br/>
            <a:r>
              <a:t>          item_features,</a:t>
            </a:r>
            <a:br/>
            <a:r>
              <a:t>          sample_weight,</a:t>
            </a:r>
            <a:br/>
            <a:r>
              <a:t>          epochs=30)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TRAINING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UI exposes every training step so the audience can see the machine learning pipeline.</a:t>
            </a:r>
          </a:p>
        </p:txBody>
      </p:sp>
      <p:pic>
        <p:nvPicPr>
          <p:cNvPr id="5" name="Picture 4" descr="ppt-ui-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943600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Import or manually add songs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Write interactions.csv rows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Build item feature tokens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Train LightFM WARP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Save lightfm_model.pkl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Show model status in the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RECOMMENDATION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Final recommendations blend learned preference and content similarity.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700" b="1">
                <a:solidFill>
                  <a:srgbClr val="1ED760"/>
                </a:solidFill>
                <a:latin typeface="Aptos"/>
              </a:defRPr>
            </a:pPr>
            <a:r>
              <a:t>final_score = 0.7 × LightFM model_score + 0.3 × content_similarity_score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880360"/>
            <a:ext cx="3200400" cy="155448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017520"/>
            <a:ext cx="28712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1ED760"/>
                </a:solidFill>
                <a:latin typeface="Aptos"/>
              </a:defRPr>
            </a:pPr>
            <a:r>
              <a:t>model_score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319272"/>
            <a:ext cx="2871216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The trained LightFM model predicts how much the user may like each candidate song.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880360"/>
            <a:ext cx="3200400" cy="155448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3017520"/>
            <a:ext cx="28712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Aptos"/>
              </a:defRPr>
            </a:pPr>
            <a:r>
              <a:t>content_similarity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3319272"/>
            <a:ext cx="2871216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Cosine similarity compares audio features such as energy, tempo, danceability, and mood.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880360"/>
            <a:ext cx="3200400" cy="155448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3017520"/>
            <a:ext cx="28712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ptos"/>
              </a:defRPr>
            </a:pPr>
            <a:r>
              <a:t>rule 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3319272"/>
            <a:ext cx="2871216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Reasons are generated deterministically, not by an LLM.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SOFTWARE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app feels like a modern music recommendation dashboard, not a plain form.</a:t>
            </a:r>
          </a:p>
        </p:txBody>
      </p:sp>
      <p:pic>
        <p:nvPicPr>
          <p:cNvPr id="5" name="Picture 4" descr="ppt-u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440680" cy="3429000"/>
          </a:xfrm>
          <a:prstGeom prst="rect">
            <a:avLst/>
          </a:prstGeom>
        </p:spPr>
      </p:pic>
      <p:pic>
        <p:nvPicPr>
          <p:cNvPr id="6" name="Picture 5" descr="ppt-ui-recommend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45920"/>
            <a:ext cx="544068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3212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0">
                <a:solidFill>
                  <a:srgbClr val="9BA6C2"/>
                </a:solidFill>
                <a:latin typeface="Aptos"/>
              </a:defRPr>
            </a:pPr>
            <a:r>
              <a:t>Bilingual UI, playlist import, manual songs, model status, recommendation cards, Like/Dislike, and Daily 50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RESULTS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system produces ranked songs, explanations, and a final 50-song daily mix.</a:t>
            </a:r>
          </a:p>
        </p:txBody>
      </p:sp>
      <p:pic>
        <p:nvPicPr>
          <p:cNvPr id="5" name="Picture 4" descr="ppt-ui-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521208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82880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4767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Recommendation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1284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Top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82880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4767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Final Playlist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1284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Aptos"/>
              </a:defRPr>
            </a:pPr>
            <a:r>
              <a:t>50 songs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09067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Explanation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5584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971800"/>
            <a:ext cx="1965960" cy="8229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090672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9BA6C2"/>
                </a:solidFill>
                <a:latin typeface="Aptos"/>
              </a:defRPr>
            </a:pPr>
            <a:r>
              <a:t>Feedback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355848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Retrain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4343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9BA6C2"/>
                </a:solidFill>
                <a:latin typeface="Aptos"/>
              </a:defRPr>
            </a:pPr>
            <a:r>
              <a:t>Evaluation demo: after Like/Dislike feedback, interactions.csv changes, model retrains, and future rankings shift.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FINAL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Daily Recommendation Mix turns model scores into a show-ready playlist.</a:t>
            </a:r>
          </a:p>
        </p:txBody>
      </p:sp>
      <p:pic>
        <p:nvPicPr>
          <p:cNvPr id="5" name="Picture 4" descr="ppt-ui-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66294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9202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Generates up to 50 songs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Filters songs already used for training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Reduces repeated artists and genres</a:t>
            </a:r>
          </a:p>
          <a:p>
            <a:pPr>
              <a:spcAft>
                <a:spcPts val="8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Can be copied as a playlist text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REAL-WORLD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same pipeline can support real school or personal music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182880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29626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1ED760"/>
                </a:solidFill>
                <a:latin typeface="Aptos"/>
              </a:defRPr>
            </a:pPr>
            <a: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962656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Learn ML from a product everyone understands: playlists and song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291840" cy="182880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65960"/>
            <a:ext cx="29626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Aptos"/>
              </a:defRPr>
            </a:pPr>
            <a:r>
              <a:t>For music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67712"/>
            <a:ext cx="2962656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Convert playlist behavior and feedback into a continuously improving recommendation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291840" cy="182880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965960"/>
            <a:ext cx="29626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ptos"/>
              </a:defRPr>
            </a:pPr>
            <a:r>
              <a:t>For 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267712"/>
            <a:ext cx="2962656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Add richer audio analysis, more users, offline evaluation metrics, and stronger diversity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1ED760"/>
                </a:solidFill>
                <a:latin typeface="Aptos"/>
              </a:defRPr>
            </a:pPr>
            <a:r>
              <a:t>Most useful improvement: collect more feedback over time and evaluate precision@k / recall@k.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ETHICAL AI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project uses AI help responsibly and avoids copyright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BFF"/>
                </a:solidFill>
                <a:latin typeface="Aptos"/>
              </a:defRPr>
            </a:pPr>
            <a:r>
              <a:t>AI assistance was used for coding, debugging, UI writing, and documentation support.</a:t>
            </a:r>
          </a:p>
          <a:p>
            <a:pPr>
              <a:spcAft>
                <a:spcPts val="800"/>
              </a:spcAft>
              <a:defRPr sz="1500">
                <a:solidFill>
                  <a:srgbClr val="F8FBFF"/>
                </a:solidFill>
                <a:latin typeface="Aptos"/>
              </a:defRPr>
            </a:pPr>
            <a:r>
              <a:t>The model and code were checked and understood by the student.</a:t>
            </a:r>
          </a:p>
          <a:p>
            <a:pPr>
              <a:spcAft>
                <a:spcPts val="800"/>
              </a:spcAft>
              <a:defRPr sz="1500">
                <a:solidFill>
                  <a:srgbClr val="F8FBFF"/>
                </a:solidFill>
                <a:latin typeface="Aptos"/>
              </a:defRPr>
            </a:pPr>
            <a:r>
              <a:t>No local LLM, LM Studio, Ollama, or OpenAI API is used for recommendation explanations.</a:t>
            </a:r>
          </a:p>
          <a:p>
            <a:pPr>
              <a:spcAft>
                <a:spcPts val="800"/>
              </a:spcAft>
              <a:defRPr sz="1500">
                <a:solidFill>
                  <a:srgbClr val="F8FBFF"/>
                </a:solidFill>
                <a:latin typeface="Aptos"/>
              </a:defRPr>
            </a:pPr>
            <a:r>
              <a:t>QQ Music import uses metadata only; no audio download or unauthorized playback.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828800"/>
            <a:ext cx="4480560" cy="33375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148840"/>
            <a:ext cx="3886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ED760"/>
                </a:solidFill>
                <a:latin typeface="Aptos"/>
              </a:defRPr>
            </a:pPr>
            <a:r>
              <a:t>Risk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7432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BFF"/>
                </a:solidFill>
                <a:latin typeface="Aptos"/>
              </a:defRPr>
            </a:pPr>
            <a:r>
              <a:t>Timeouts for API requests</a:t>
            </a:r>
          </a:p>
          <a:p>
            <a:pPr>
              <a:spcAft>
                <a:spcPts val="800"/>
              </a:spcAft>
              <a:defRPr sz="1400">
                <a:solidFill>
                  <a:srgbClr val="F8FBFF"/>
                </a:solidFill>
                <a:latin typeface="Aptos"/>
              </a:defRPr>
            </a:pPr>
            <a:r>
              <a:t>Friendly error fallback</a:t>
            </a:r>
          </a:p>
          <a:p>
            <a:pPr>
              <a:spcAft>
                <a:spcPts val="800"/>
              </a:spcAft>
              <a:defRPr sz="1400">
                <a:solidFill>
                  <a:srgbClr val="F8FBFF"/>
                </a:solidFill>
                <a:latin typeface="Aptos"/>
              </a:defRPr>
            </a:pPr>
            <a:r>
              <a:t>Local CSV storage</a:t>
            </a:r>
          </a:p>
          <a:p>
            <a:pPr>
              <a:spcAft>
                <a:spcPts val="800"/>
              </a:spcAft>
              <a:defRPr sz="1400">
                <a:solidFill>
                  <a:srgbClr val="F8FBFF"/>
                </a:solidFill>
                <a:latin typeface="Aptos"/>
              </a:defRPr>
            </a:pPr>
            <a:r>
              <a:t>Rule-based explanations</a:t>
            </a:r>
          </a:p>
          <a:p>
            <a:pPr>
              <a:spcAft>
                <a:spcPts val="800"/>
              </a:spcAft>
              <a:defRPr sz="1400">
                <a:solidFill>
                  <a:srgbClr val="F8FBFF"/>
                </a:solidFill>
                <a:latin typeface="Aptos"/>
              </a:defRPr>
            </a:pPr>
            <a:r>
              <a:t>No private audio scraping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The model is real, but the dataset size and public metadata sources limit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60020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305409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1ED760"/>
                </a:solidFill>
                <a:latin typeface="Aptos"/>
              </a:defRPr>
            </a:pPr>
            <a:r>
              <a:t>Small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3054096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A single demo user means rankings are useful for demonstration, not production-scale personalization.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383280" cy="160020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65960"/>
            <a:ext cx="305409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Aptos"/>
              </a:defRPr>
            </a:pPr>
            <a:r>
              <a:t>Estimated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67712"/>
            <a:ext cx="3054096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Some online results do not provide true audio features, so the app estimates features from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383280" cy="160020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965960"/>
            <a:ext cx="305409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ptos"/>
              </a:defRPr>
            </a:pPr>
            <a:r>
              <a:t>Unstable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267712"/>
            <a:ext cx="3054096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QQ Music public endpoints may change, so the app includes fallback and manual 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1498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0">
                <a:solidFill>
                  <a:srgbClr val="9BA6C2"/>
                </a:solidFill>
                <a:latin typeface="Aptos"/>
              </a:defRPr>
            </a:pPr>
            <a:r>
              <a:t>Future improvements: real audio-feature sources, multi-user data, train/test evaluation, precision@k, recall@k, and stronger diversity re-ranking.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HOW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Quick start: open the app, import music taste data, then train the model.</a:t>
            </a:r>
          </a:p>
        </p:txBody>
      </p:sp>
      <p:pic>
        <p:nvPicPr>
          <p:cNvPr id="5" name="Picture 4" descr="ppt-u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64208"/>
            <a:ext cx="5120640" cy="3383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1664208"/>
            <a:ext cx="5257800" cy="768096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5352" y="1847088"/>
            <a:ext cx="402336" cy="402336"/>
          </a:xfrm>
          <a:prstGeom prst="round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911095"/>
            <a:ext cx="21945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4688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F8FBFF"/>
                </a:solidFill>
                <a:latin typeface="Aptos"/>
              </a:defRPr>
            </a:pPr>
            <a:r>
              <a:t>Start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048256"/>
            <a:ext cx="4160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Run python app.py, then open the local URL printed in the terminal.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688336"/>
            <a:ext cx="5257800" cy="768096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5352" y="2871216"/>
            <a:ext cx="402336" cy="402336"/>
          </a:xfrm>
          <a:prstGeom prst="round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935224"/>
            <a:ext cx="21945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816352"/>
            <a:ext cx="24688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F8FBFF"/>
                </a:solidFill>
                <a:latin typeface="Aptos"/>
              </a:defRPr>
            </a:pPr>
            <a:r>
              <a:t>Import or add songs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3072384"/>
            <a:ext cx="4160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Paste a QQ Music playlist link, or type songs manually in Song - Artist format.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712464"/>
            <a:ext cx="5257800" cy="768096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3895344"/>
            <a:ext cx="402336" cy="402336"/>
          </a:xfrm>
          <a:prstGeom prst="round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959352"/>
            <a:ext cx="21945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3840480"/>
            <a:ext cx="24688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F8FBFF"/>
                </a:solidFill>
                <a:latin typeface="Aptos"/>
              </a:defRPr>
            </a:pPr>
            <a:r>
              <a:t>Check the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4096512"/>
            <a:ext cx="4160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The app saves songs, playlists, interactions, and feedback into local CSV 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736592"/>
            <a:ext cx="5257800" cy="768096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4919472"/>
            <a:ext cx="402336" cy="402336"/>
          </a:xfrm>
          <a:prstGeom prst="round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983480"/>
            <a:ext cx="21945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4864608"/>
            <a:ext cx="24688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F8FBFF"/>
                </a:solidFill>
                <a:latin typeface="Aptos"/>
              </a:defRPr>
            </a:pPr>
            <a:r>
              <a:t>Train the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5120640"/>
            <a:ext cx="4160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Click Train Model to build a LightFM hybrid recommendation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59552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ED760"/>
                </a:solidFill>
                <a:latin typeface="Aptos"/>
              </a:defRPr>
            </a:pPr>
            <a:r>
              <a:t>For the AI Fair booth, prepare a short playlist first so the model has training data before visitors test recommendations.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DEMO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A simple live demo can show the complete machine learning loop in under three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5166360" cy="93268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01952"/>
            <a:ext cx="914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ED760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1883664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Search or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2194560"/>
            <a:ext cx="3703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Search for familiar songs such as Shape of You, Blinding Lights, Believer, or Levitating.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55648"/>
            <a:ext cx="5166360" cy="93268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901952"/>
            <a:ext cx="914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ED760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1883664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Create 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2194560"/>
            <a:ext cx="3703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Add songs to the training playlist. These actions become positive training examples.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54096"/>
            <a:ext cx="5166360" cy="93268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200400"/>
            <a:ext cx="914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ED760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3182112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Train LightFM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493008"/>
            <a:ext cx="3703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Click Train Model and point out the model type, number of interactions, and item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054096"/>
            <a:ext cx="5166360" cy="93268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200400"/>
            <a:ext cx="914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ED760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3182112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Generate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3493008"/>
            <a:ext cx="3703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Click Get Recommendations to show Top 10 ranked songs with model/content/final scores.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52544"/>
            <a:ext cx="5166360" cy="93268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498848"/>
            <a:ext cx="914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ED760"/>
                </a:solidFill>
                <a:latin typeface="Aptos"/>
              </a:defRPr>
            </a:pPr>
            <a: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" y="4480559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Give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4791456"/>
            <a:ext cx="3703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Click Like or Dislike. The app saves feedback and retrains so future recommendations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352544"/>
            <a:ext cx="5166360" cy="932688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4498848"/>
            <a:ext cx="914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ED760"/>
                </a:solidFill>
                <a:latin typeface="Aptos"/>
              </a:defRPr>
            </a:pPr>
            <a: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4480559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Generate Final 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4791456"/>
            <a:ext cx="3703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BA6C2"/>
                </a:solidFill>
                <a:latin typeface="Aptos"/>
              </a:defRPr>
            </a:pPr>
            <a:r>
              <a:t>Click Generate Final 50 to output a Daily Recommendation Mix that can be copied.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06440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Aptos"/>
              </a:defRPr>
            </a:pPr>
            <a:r>
              <a:t>Presentation line: The important part is not the button click. It is that every click creates data that changes the trained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D760"/>
                </a:solidFill>
                <a:latin typeface="Aptos"/>
              </a:defRPr>
            </a:pPr>
            <a:r>
              <a:t>USAGE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BFF"/>
                </a:solidFill>
                <a:latin typeface="Aptos Display"/>
              </a:defRPr>
            </a:pPr>
            <a:r>
              <a:t>If an online service fails, the system still works through local data and manual input.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146304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300837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1ED760"/>
                </a:solidFill>
                <a:latin typeface="Aptos"/>
              </a:defRPr>
            </a:pPr>
            <a:r>
              <a:t>If QQ import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67712"/>
            <a:ext cx="3008376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Use manual playlist input or Search Songs. QQ public metadata endpoints can change or block some playlists.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146304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65960"/>
            <a:ext cx="300837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Aptos"/>
              </a:defRPr>
            </a:pPr>
            <a:r>
              <a:t>If API search is slow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67712"/>
            <a:ext cx="3008376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The app uses timeouts and skips failed providers, so Flask stays running instead of crashing.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1463040"/>
          </a:xfrm>
          <a:prstGeom prst="roundRect">
            <a:avLst/>
          </a:prstGeom>
          <a:solidFill>
            <a:srgbClr val="181D32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65960"/>
            <a:ext cx="300837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ptos"/>
              </a:defRPr>
            </a:pPr>
            <a:r>
              <a:t>If LightFM is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267712"/>
            <a:ext cx="3008376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The app falls back to content similarity and a logistic-regression feedback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77639"/>
            <a:ext cx="10287000" cy="1051560"/>
          </a:xfrm>
          <a:prstGeom prst="roundRect">
            <a:avLst/>
          </a:prstGeom>
          <a:solidFill>
            <a:srgbClr val="222A45"/>
          </a:solidFill>
          <a:ln w="12700">
            <a:solidFill>
              <a:srgbClr val="3E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224528"/>
            <a:ext cx="9738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1ED760"/>
                </a:solidFill>
                <a:latin typeface="Aptos"/>
              </a:defRPr>
            </a:pPr>
            <a:r>
              <a:t>Teacher-facing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72000"/>
            <a:ext cx="9738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F8FBFF"/>
                </a:solidFill>
                <a:latin typeface="Aptos"/>
              </a:defRPr>
            </a:pPr>
            <a:r>
              <a:t>The project is designed to keep running during a live demo: public API errors become friendly messages, while the local CSV dataset and trained recommender still provide recommendations.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1">
                <a:solidFill>
                  <a:srgbClr val="1ED760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71323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000" b="1">
                <a:solidFill>
                  <a:srgbClr val="F8FBFF"/>
                </a:solidFill>
                <a:latin typeface="Aptos"/>
              </a:defRPr>
            </a:pPr>
            <a:r>
              <a:t>This project shows the full ML loop: data → features → training → ranking → feedback.</a:t>
            </a:r>
          </a:p>
        </p:txBody>
      </p:sp>
      <p:pic>
        <p:nvPicPr>
          <p:cNvPr id="5" name="Picture 4" descr="ppt-u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51560"/>
            <a:ext cx="429768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343400"/>
            <a:ext cx="6126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0">
                <a:solidFill>
                  <a:srgbClr val="9BA6C2"/>
                </a:solidFill>
                <a:latin typeface="Aptos"/>
              </a:defRPr>
            </a:pPr>
            <a:r>
              <a:t>Playlist import creates implicit feedback. Like/Dislike creates explicit feedback. LightFM learns preferences and ranks songs the user is likely to enjoy.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1ED760"/>
                </a:solidFill>
                <a:latin typeface="Aptos"/>
              </a:defRPr>
            </a:pPr>
            <a: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